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embeddedFontLst>
    <p:embeddedFont>
      <p:font typeface="Montserra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qRKBxKBMPDO3DAb1UKNGvsIah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11" Type="http://schemas.openxmlformats.org/officeDocument/2006/relationships/slide" Target="slides/slide7.xml"/><Relationship Id="rId22" Type="http://schemas.openxmlformats.org/officeDocument/2006/relationships/font" Target="fonts/Montserrat-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model detects the patterns in data. If we have bad data, bad model.</a:t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cf4758f52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ccf4758f52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ccf4758f52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cf4758f52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ccf4758f52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3ccf4758f52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e91a337d6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ce91a337d6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ce91a337d6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e91a337d6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ce91a337d6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Why is each important? Tradeoffs. Use visuals! </a:t>
            </a:r>
            <a:endParaRPr/>
          </a:p>
        </p:txBody>
      </p:sp>
      <p:sp>
        <p:nvSpPr>
          <p:cNvPr id="119" name="Google Shape;119;g3ce91a337d6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Model performance </a:t>
            </a:r>
            <a:endParaRPr/>
          </a:p>
        </p:txBody>
      </p:sp>
      <p:sp>
        <p:nvSpPr>
          <p:cNvPr id="127" name="Google Shape;127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e91a337d6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ce91a337d6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Why is each important? Tradeoffs. </a:t>
            </a:r>
            <a:endParaRPr/>
          </a:p>
        </p:txBody>
      </p:sp>
      <p:sp>
        <p:nvSpPr>
          <p:cNvPr id="137" name="Google Shape;137;g3ce91a337d6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e91a337d6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e91a337d6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Why is each important? Tradeoffs. </a:t>
            </a:r>
            <a:endParaRPr/>
          </a:p>
        </p:txBody>
      </p:sp>
      <p:sp>
        <p:nvSpPr>
          <p:cNvPr id="144" name="Google Shape;144;g3ce91a337d6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e91a337d6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ce91a337d6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Why is each important? Tradeoffs. </a:t>
            </a:r>
            <a:endParaRPr/>
          </a:p>
        </p:txBody>
      </p:sp>
      <p:sp>
        <p:nvSpPr>
          <p:cNvPr id="151" name="Google Shape;151;g3ce91a337d6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e91a337d6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ce91a337d6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Why is each important? Tradeoffs. </a:t>
            </a:r>
            <a:endParaRPr/>
          </a:p>
        </p:txBody>
      </p:sp>
      <p:sp>
        <p:nvSpPr>
          <p:cNvPr id="158" name="Google Shape;158;g3ce91a337d6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e91a337d6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ce91a337d6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Why is each important? Tradeoffs. </a:t>
            </a:r>
            <a:endParaRPr/>
          </a:p>
        </p:txBody>
      </p:sp>
      <p:sp>
        <p:nvSpPr>
          <p:cNvPr id="165" name="Google Shape;165;g3ce91a337d6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ef31dddf3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ef31dddf3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cef31dddf3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tinyurl.com/datadivesignup" TargetMode="External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sheffdatasoc/datadive-resources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sheffdatasoc/datadive-resources" TargetMode="Externa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/>
        </p:nvSpPr>
        <p:spPr>
          <a:xfrm>
            <a:off x="311708" y="12264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182F4D"/>
                </a:solidFill>
                <a:latin typeface="Montserrat"/>
                <a:ea typeface="Montserrat"/>
                <a:cs typeface="Montserrat"/>
                <a:sym typeface="Montserrat"/>
              </a:rPr>
              <a:t>DataDive Week </a:t>
            </a:r>
            <a:r>
              <a:rPr b="1" lang="en-US" sz="5200">
                <a:solidFill>
                  <a:srgbClr val="182F4D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b="1" i="0" lang="en-US" sz="5200" u="none" cap="none" strike="noStrike">
                <a:solidFill>
                  <a:srgbClr val="182F4D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b="1" i="0" sz="5200" u="none" cap="none" strike="noStrike">
              <a:solidFill>
                <a:srgbClr val="182F4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lang="en-US" sz="5200">
                <a:solidFill>
                  <a:srgbClr val="182F4D"/>
                </a:solidFill>
                <a:latin typeface="Montserrat"/>
                <a:ea typeface="Montserrat"/>
                <a:cs typeface="Montserrat"/>
                <a:sym typeface="Montserrat"/>
              </a:rPr>
              <a:t>Evaluating ML Models</a:t>
            </a:r>
            <a:endParaRPr b="0" i="0" sz="5200" u="none" cap="none" strike="noStrike">
              <a:solidFill>
                <a:srgbClr val="182F4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75"/>
              <a:buFont typeface="Arial"/>
              <a:buNone/>
            </a:pPr>
            <a:r>
              <a:t/>
            </a:r>
            <a:endParaRPr b="0" i="0" sz="3675" u="none" cap="none" strike="noStrike">
              <a:solidFill>
                <a:srgbClr val="182F4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311700" y="33159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DF694E"/>
                </a:solidFill>
                <a:latin typeface="Montserrat"/>
                <a:ea typeface="Montserrat"/>
                <a:cs typeface="Montserrat"/>
                <a:sym typeface="Montserrat"/>
              </a:rPr>
              <a:t>SheffDataSoc</a:t>
            </a:r>
            <a:endParaRPr b="0" i="0" sz="2800" u="none" cap="none" strike="noStrike">
              <a:solidFill>
                <a:srgbClr val="DF69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65826" y="4108550"/>
            <a:ext cx="1066475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Datasoc Promo!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Upcoming social: </a:t>
            </a:r>
            <a:r>
              <a:rPr b="1" lang="en-US">
                <a:solidFill>
                  <a:srgbClr val="182F4D"/>
                </a:solidFill>
                <a:latin typeface="Montserrat"/>
                <a:ea typeface="Montserrat"/>
                <a:cs typeface="Montserrat"/>
                <a:sym typeface="Montserrat"/>
              </a:rPr>
              <a:t>Pub Quiz @ the Cavendish</a:t>
            </a: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(West St), </a:t>
            </a:r>
            <a:r>
              <a:rPr b="1" lang="en-US">
                <a:solidFill>
                  <a:srgbClr val="DF694E"/>
                </a:solidFill>
                <a:latin typeface="Montserrat"/>
                <a:ea typeface="Montserrat"/>
                <a:cs typeface="Montserrat"/>
                <a:sym typeface="Montserrat"/>
              </a:rPr>
              <a:t>Thu 12th March 7-10pm</a:t>
            </a: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It’s free to attend, so please do come along!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DataDive Sign Up is live!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https://tinyurl.com/datadivesignup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 out Datasoc on instagram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b="1" lang="en-US">
                <a:solidFill>
                  <a:srgbClr val="182F4D"/>
                </a:solidFill>
                <a:latin typeface="Montserrat"/>
                <a:ea typeface="Montserrat"/>
                <a:cs typeface="Montserrat"/>
                <a:sym typeface="Montserrat"/>
              </a:rPr>
              <a:t>@sheffdatasoc</a:t>
            </a: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for updates and information on our events!</a:t>
            </a:r>
            <a:endParaRPr/>
          </a:p>
        </p:txBody>
      </p:sp>
      <p:pic>
        <p:nvPicPr>
          <p:cNvPr id="70" name="Google Shape;70;p2" title="Screenshot 2026-03-11 at 13.52.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8351" y="1895087"/>
            <a:ext cx="1929025" cy="193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Session Outline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Recap: What is an AI Model?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Why Do We Evaluate Models?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Aligning Models With Our Objectives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Common Evaluation Metrics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Overfitting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Creating Ethical Models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Questions to Ask When Building Models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Typical Evaluation Workflow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Access the resources for today’s session: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DF694E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https://github.com/sheffdatasoc/datadive-resources</a:t>
            </a:r>
            <a:r>
              <a:rPr lang="en-US">
                <a:solidFill>
                  <a:srgbClr val="DF694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solidFill>
                <a:srgbClr val="DF694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81818"/>
              <a:buNone/>
            </a:pPr>
            <a:r>
              <a:rPr lang="en-US" sz="2200">
                <a:solidFill>
                  <a:srgbClr val="DF694E"/>
                </a:solidFill>
                <a:latin typeface="Montserrat"/>
                <a:ea typeface="Montserrat"/>
                <a:cs typeface="Montserrat"/>
                <a:sym typeface="Montserrat"/>
              </a:rPr>
              <a:t>https://tinyurl.com/uostrain</a:t>
            </a:r>
            <a:endParaRPr sz="2200">
              <a:solidFill>
                <a:srgbClr val="DF69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8" name="Google Shape;7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0475" y="2257050"/>
            <a:ext cx="2311825" cy="231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Recap: What is an AI Model</a:t>
            </a: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11700" y="1152475"/>
            <a:ext cx="7777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AI models solve problems by </a:t>
            </a:r>
            <a:r>
              <a:rPr b="1" i="0" lang="en-US" sz="1800" u="none" cap="none" strike="noStrike">
                <a:solidFill>
                  <a:srgbClr val="DF694E"/>
                </a:solidFill>
                <a:latin typeface="Montserrat"/>
                <a:ea typeface="Montserrat"/>
                <a:cs typeface="Montserrat"/>
                <a:sym typeface="Montserrat"/>
              </a:rPr>
              <a:t>learning and exploiting patterns in data</a:t>
            </a:r>
            <a:endParaRPr b="1" i="0" sz="1800" u="none" cap="none" strike="noStrike">
              <a:solidFill>
                <a:srgbClr val="DF69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6" name="Google Shape;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6022" y="1725175"/>
            <a:ext cx="1697875" cy="204257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311700" y="3851222"/>
            <a:ext cx="777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primary use case of models is making predictions. 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None/>
            </a:pPr>
            <a:r>
              <a:rPr i="1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do we know if they are any good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? </a:t>
            </a:r>
            <a:endParaRPr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" name="Google Shape;8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8435" y="2354223"/>
            <a:ext cx="1697897" cy="95082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6265161" y="2510857"/>
            <a:ext cx="617100" cy="68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25" lIns="68450" spcFirstLastPara="1" rIns="68450" wrap="square" tIns="34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48"/>
              <a:buFont typeface="Calibri"/>
              <a:buNone/>
            </a:pPr>
            <a:r>
              <a:rPr b="1" i="0" lang="en-US" sz="1945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Dog</a:t>
            </a:r>
            <a:endParaRPr b="1" i="0" sz="19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307174" y="2790004"/>
            <a:ext cx="324300" cy="15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450" lIns="68450" spcFirstLastPara="1" rIns="68450" wrap="square" tIns="68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8"/>
              <a:buFont typeface="Arial"/>
              <a:buNone/>
            </a:pPr>
            <a:r>
              <a:t/>
            </a:r>
            <a:endParaRPr b="0" i="0" sz="10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718452" y="2775145"/>
            <a:ext cx="324300" cy="15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450" lIns="68450" spcFirstLastPara="1" rIns="68450" wrap="square" tIns="68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8"/>
              <a:buFont typeface="Arial"/>
              <a:buNone/>
            </a:pPr>
            <a:r>
              <a:t/>
            </a:r>
            <a:endParaRPr b="0" i="0" sz="104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cf4758f52_1_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Why Do We Evaluate Models?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g3ccf4758f52_1_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Training a model doesn’t mean it will work well in the real world.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Evaluation helps us answer three key questions: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 it accurate?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Does it </a:t>
            </a: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achieve</a:t>
            </a: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goal we care about?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-"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 it safe and fair to use?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model </a:t>
            </a: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might</a:t>
            </a: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look great in </a:t>
            </a: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training</a:t>
            </a: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but poor performance in real scenarios. For example, a spam email classifier trained on poor data might let 80% of spam emails through in a real scenario.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cf4758f52_1_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Alignment With Objective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g3ccf4758f52_1_7"/>
          <p:cNvSpPr txBox="1"/>
          <p:nvPr>
            <p:ph idx="1" type="body"/>
          </p:nvPr>
        </p:nvSpPr>
        <p:spPr>
          <a:xfrm>
            <a:off x="311700" y="1152475"/>
            <a:ext cx="8520600" cy="15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95"/>
              <a:buNone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single most important question to ask is ‘Are we measuring the thing that actually matters?’ 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95"/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95"/>
              <a:buNone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model can look amazing in training, but if it is amazing on the wrong thing it is useless! 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95"/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95"/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" name="Google Shape;106;g3ccf4758f52_1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8225" y="2834625"/>
            <a:ext cx="247650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ccf4758f52_1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1250" y="2852275"/>
            <a:ext cx="2609850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e91a337d6_0_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Example: Alignment With Objective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g3ce91a337d6_0_3"/>
          <p:cNvSpPr txBox="1"/>
          <p:nvPr>
            <p:ph idx="1" type="body"/>
          </p:nvPr>
        </p:nvSpPr>
        <p:spPr>
          <a:xfrm>
            <a:off x="251000" y="1017725"/>
            <a:ext cx="8520600" cy="23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Goal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Detect cancer in scans</a:t>
            </a:r>
            <a:b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Metric used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Accuracy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Problem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b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only </a:t>
            </a: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1% of patients have cancer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 model that always predicts </a:t>
            </a:r>
            <a:r>
              <a:rPr i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“no cancer”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will get </a:t>
            </a: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99% accuracy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but be completely useless.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Better metrics: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Recall (sensitivity)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– how many real cases we detect</a:t>
            </a:r>
            <a:b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– how often our alerts are correct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Key lesson:</a:t>
            </a:r>
            <a:b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Metrics must match the real-world objective.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5" name="Google Shape;115;g3ce91a337d6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8375" y="3597199"/>
            <a:ext cx="4693648" cy="144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e91a337d6_0_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Common Evaluation Metrics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g3ce91a337d6_0_17"/>
          <p:cNvSpPr txBox="1"/>
          <p:nvPr>
            <p:ph idx="1" type="body"/>
          </p:nvPr>
        </p:nvSpPr>
        <p:spPr>
          <a:xfrm>
            <a:off x="311700" y="1152475"/>
            <a:ext cx="8520600" cy="15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95"/>
              <a:buNone/>
            </a:pPr>
            <a:r>
              <a:rPr b="1"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Percentage of correct predictions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95"/>
              <a:buNone/>
            </a:pPr>
            <a:r>
              <a:rPr b="1"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Of the positive predictions, how many were correct?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95"/>
              <a:buNone/>
            </a:pPr>
            <a:r>
              <a:rPr b="1"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Recall</a:t>
            </a: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Of the real positive cases, how many did the model find?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95"/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95"/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95"/>
              <a:buNone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There are often tradeoffs between metrics, for example precision and recall. A higher Recall often means lower Precision.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95"/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95"/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3" name="Google Shape;123;g3ce91a337d6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3125" y="3276425"/>
            <a:ext cx="2037750" cy="170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/>
          <p:nvPr>
            <p:ph idx="1" type="body"/>
          </p:nvPr>
        </p:nvSpPr>
        <p:spPr>
          <a:xfrm>
            <a:off x="311700" y="1152475"/>
            <a:ext cx="8520600" cy="11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model might perform well on training data but poorly in the real world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is called overfitting.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Overfitting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333456" y="2324875"/>
            <a:ext cx="4429800" cy="24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solve this primarily through splitting our training data into ‘Test’ and ‘Train’ sets at an 20/80 ratio.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Test and Train data are exactly that - we train the 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with one set, we test the models performance with the other. 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13"/>
          <p:cNvPicPr preferRelativeResize="0"/>
          <p:nvPr/>
        </p:nvPicPr>
        <p:blipFill rotWithShape="1">
          <a:blip r:embed="rId3">
            <a:alphaModFix/>
          </a:blip>
          <a:srcRect b="0" l="68052" r="0" t="0"/>
          <a:stretch/>
        </p:blipFill>
        <p:spPr>
          <a:xfrm>
            <a:off x="6157049" y="3470174"/>
            <a:ext cx="1897800" cy="149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3"/>
          <p:cNvSpPr/>
          <p:nvPr/>
        </p:nvSpPr>
        <p:spPr>
          <a:xfrm>
            <a:off x="5200975" y="2324879"/>
            <a:ext cx="4041000" cy="16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want to evaluate performance on data the model has never seen. This makes sure the model is </a:t>
            </a:r>
            <a:r>
              <a:rPr b="1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general</a:t>
            </a:r>
            <a:r>
              <a:rPr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e91a337d6_0_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Building Ethical Models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g3ce91a337d6_0_27"/>
          <p:cNvSpPr txBox="1"/>
          <p:nvPr>
            <p:ph idx="1" type="body"/>
          </p:nvPr>
        </p:nvSpPr>
        <p:spPr>
          <a:xfrm>
            <a:off x="311700" y="1152475"/>
            <a:ext cx="8520600" cy="15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95"/>
              <a:buNone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Building good models isn’t just about absolute performance. 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95"/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95"/>
              <a:buNone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must also ask: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95"/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Char char="-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Is this model fair across groups?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Char char="-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Could it cause harm? 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Char char="-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Does it respect privacy?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Char char="-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Are the predictions explainable? 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hiring model may perform well overall but unfairly disadvantage certain groups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e91a337d6_0_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Case Study: Amazon</a:t>
            </a:r>
            <a:endParaRPr/>
          </a:p>
        </p:txBody>
      </p:sp>
      <p:sp>
        <p:nvSpPr>
          <p:cNvPr id="147" name="Google Shape;147;g3ce91a337d6_0_33"/>
          <p:cNvSpPr txBox="1"/>
          <p:nvPr>
            <p:ph idx="1" type="body"/>
          </p:nvPr>
        </p:nvSpPr>
        <p:spPr>
          <a:xfrm>
            <a:off x="311700" y="1152475"/>
            <a:ext cx="8520600" cy="15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Amazon hiring bias case study. 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e91a337d6_0_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Practical Questions to Ask When Evaluating Models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g3ce91a337d6_0_39"/>
          <p:cNvSpPr txBox="1"/>
          <p:nvPr>
            <p:ph idx="1" type="body"/>
          </p:nvPr>
        </p:nvSpPr>
        <p:spPr>
          <a:xfrm>
            <a:off x="311700" y="1152475"/>
            <a:ext cx="8520600" cy="15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Char char="-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Does the metric </a:t>
            </a: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match</a:t>
            </a: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real goal? 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Char char="-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Does the performance hold on unseen data? 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Char char="-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Are certain groups </a:t>
            </a: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affected</a:t>
            </a: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differently?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Char char="-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are the consequences of errors?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Char char="-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Can we explain the models decisions? 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Your models will be used by real people</a:t>
            </a:r>
            <a:endParaRPr b="1"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e91a337d6_0_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Evaluation Workflow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g3ce91a337d6_0_45"/>
          <p:cNvSpPr txBox="1"/>
          <p:nvPr>
            <p:ph idx="1" type="body"/>
          </p:nvPr>
        </p:nvSpPr>
        <p:spPr>
          <a:xfrm>
            <a:off x="311700" y="1152475"/>
            <a:ext cx="8520600" cy="15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AutoNum type="arabicPeriod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Train Model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AutoNum type="arabicPeriod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Test on Unseen Data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AutoNum type="arabicPeriod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Calculate Metrics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AutoNum type="arabicPeriod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 Bias against subgroups (black, white, male, female, etc)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AutoNum type="arabicPeriod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Review Ethical Risks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AutoNum type="arabicPeriod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Decide if the Model is Safe to Deploy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Remember - </a:t>
            </a:r>
            <a:r>
              <a:rPr b="1"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 can always retrain the model!</a:t>
            </a: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issue stated above can likely be fixed by changing one or more of your: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Char char="-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Dataset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Char char="-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Objective 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Char char="-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 Type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e91a337d6_0_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Key Takeaways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g3ce91a337d6_0_51"/>
          <p:cNvSpPr txBox="1"/>
          <p:nvPr>
            <p:ph idx="1" type="body"/>
          </p:nvPr>
        </p:nvSpPr>
        <p:spPr>
          <a:xfrm>
            <a:off x="311700" y="1152475"/>
            <a:ext cx="8520600" cy="3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good model isn’t just accurate - it is aligned with the objective, performs well on new data and safe to use in the real world. 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Goals of training a production level model: 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Char char="-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Align with project goals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Char char="-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Performs well on new data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2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Font typeface="Montserrat"/>
              <a:buChar char="-"/>
            </a:pPr>
            <a:r>
              <a:rPr lang="en-US" sz="1695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Ethical and safe to use the in real world</a:t>
            </a:r>
            <a:endParaRPr sz="1695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ef31dddf3_0_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Notebooks</a:t>
            </a:r>
            <a:endParaRPr/>
          </a:p>
        </p:txBody>
      </p:sp>
      <p:sp>
        <p:nvSpPr>
          <p:cNvPr id="175" name="Google Shape;175;g3cef31dddf3_0_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F694E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https://github.com/sheffdatasoc/datadive-resources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https://tinyurl.com/uosevaluation</a:t>
            </a:r>
            <a:endParaRPr/>
          </a:p>
        </p:txBody>
      </p:sp>
      <p:pic>
        <p:nvPicPr>
          <p:cNvPr id="176" name="Google Shape;176;g3cef31dddf3_0_3" title="Screenshot 2026-03-11 at 14.35.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8550" y="1578425"/>
            <a:ext cx="2169749" cy="216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